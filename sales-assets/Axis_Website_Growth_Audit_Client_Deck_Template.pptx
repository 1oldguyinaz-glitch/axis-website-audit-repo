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audit as a decision tool, not a sales pitch. State that the goal is to recommend the smallest complete solution that fixes the observed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build trust. You are telling the client you may recommend less than they thought or less than you could charge. That makes the later recommendation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sample numbers with the real audit. The scorecard should make the recommendation feel inevitable before the pricing slide 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blunt. Do not dump every issue. The client needs priority, not a museum of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one screenshot and speak to one issue only. This keeps the walkthrough specific and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one screenshot and speak to one issue only. This keeps the walkthrough specific and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one screenshot and speak to one issue only. This keeps the walkthrough specific and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disarms sales resistance. It proves you are not hiding the strategy. The implementation offer is for people who want it done right and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recommended package as the rational middle only if the audit supports it. If the audit supports a different package, change the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control. Clients buy certainty. The path must feel simple and bounded.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single decision. Do not re-open the full menu unless the client asks. The recommendation is the call-to-action.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for you as the operator. Each client audit gives you content ideas without inventing new topics from scratch.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8A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8A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 w="12700">
            <a:solidFill>
              <a:srgbClr val="1110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09728"/>
            <a:ext cx="1874520" cy="1874520"/>
          </a:xfrm>
          <a:prstGeom prst="arc">
            <a:avLst/>
          </a:prstGeom>
          <a:solidFill>
            <a:srgbClr val="11100E">
              <a:alpha val="0"/>
            </a:srgbClr>
          </a:solidFill>
          <a:ln w="12700">
            <a:solidFill>
              <a:srgbClr val="C9965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5321808"/>
            <a:ext cx="1234440" cy="1234440"/>
          </a:xfrm>
          <a:prstGeom prst="arc">
            <a:avLst/>
          </a:prstGeom>
          <a:solidFill>
            <a:srgbClr val="11100E">
              <a:alpha val="0"/>
            </a:srgbClr>
          </a:solidFill>
          <a:ln w="12700">
            <a:solidFill>
              <a:srgbClr val="C9965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30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B5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2377440" cy="283464"/>
          </a:xfrm>
          <a:prstGeom prst="roundRect">
            <a:avLst>
              <a:gd name="adj" fmla="val 16129"/>
            </a:avLst>
          </a:prstGeom>
          <a:solidFill>
            <a:srgbClr val="2B241B"/>
          </a:solidFill>
          <a:ln w="10160">
            <a:solidFill>
              <a:srgbClr val="C99652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29844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E2B574"/>
                </a:solidFill>
              </a:rPr>
              <a:t>CLIENT PRESENTATION TEMPLATE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1691640"/>
            <a:ext cx="5669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Website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 Audit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94944" y="34381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DE5D9"/>
                </a:solidFill>
              </a:rPr>
              <a:t>Diagnose what is costing the business trust, leads, and customers — then recommend the smallest complete fix.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29400" y="1152144"/>
            <a:ext cx="4389120" cy="4443984"/>
          </a:xfrm>
          <a:prstGeom prst="roundRect">
            <a:avLst>
              <a:gd name="adj" fmla="val 2083"/>
            </a:avLst>
          </a:prstGeom>
          <a:solidFill>
            <a:srgbClr val="231F1A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95160" y="1600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B574"/>
                </a:solidFill>
              </a:rPr>
              <a:t>Prepared for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95160" y="19202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[CLIENT NAME]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95160" y="2542032"/>
            <a:ext cx="3401568" cy="0"/>
          </a:xfrm>
          <a:prstGeom prst="line">
            <a:avLst/>
          </a:prstGeom>
          <a:noFill/>
          <a:ln w="10160">
            <a:solidFill>
              <a:srgbClr val="554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28895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BB2A5"/>
                </a:solidFill>
              </a:rPr>
              <a:t>Website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995160" y="31546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[WEBSITE URL]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95160" y="37490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BB2A5"/>
                </a:solidFill>
              </a:rPr>
              <a:t>Audit Date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995160" y="40050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[DATE]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95160" y="4608576"/>
            <a:ext cx="3154680" cy="438912"/>
          </a:xfrm>
          <a:prstGeom prst="roundRect">
            <a:avLst>
              <a:gd name="adj" fmla="val 14583"/>
            </a:avLst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87184" y="4736592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00E"/>
                </a:solidFill>
              </a:rPr>
              <a:t>Walkthrough Goal: Decide the right fix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1A4"/>
                </a:solidFill>
              </a:rPr>
              <a:t>Website Growth Audit • Client Walkthrough Template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8A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91440"/>
            <a:ext cx="1234440" cy="123444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138928"/>
            <a:ext cx="1325880" cy="132588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219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21792"/>
            <a:ext cx="11201400" cy="0"/>
          </a:xfrm>
          <a:prstGeom prst="line">
            <a:avLst/>
          </a:prstGeom>
          <a:noFill/>
          <a:ln w="7620">
            <a:solidFill>
              <a:srgbClr val="D7C8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96112"/>
            <a:ext cx="7223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audit rule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554B"/>
                </a:solidFill>
              </a:rPr>
              <a:t>We do not sell the biggest package. We recommend the smallest complete fix.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993392"/>
            <a:ext cx="3108960" cy="332841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7C8B2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2331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A85C4D"/>
                </a:solidFill>
              </a:rPr>
              <a:t>UNDER-SOLVING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87552" y="2697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00E"/>
                </a:solidFill>
              </a:rPr>
              <a:t>A low-cost refresh can look appealing but leave the expensive problems untouched.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87552" y="4087368"/>
            <a:ext cx="82296" cy="82296"/>
          </a:xfrm>
          <a:prstGeom prst="ellipse">
            <a:avLst/>
          </a:prstGeom>
          <a:solidFill>
            <a:srgbClr val="A85C4D"/>
          </a:solidFill>
          <a:ln w="12700">
            <a:solidFill>
              <a:srgbClr val="A85C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403250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554B"/>
                </a:solidFill>
              </a:rPr>
              <a:t>Cosmetic updates only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87552" y="4398264"/>
            <a:ext cx="82296" cy="82296"/>
          </a:xfrm>
          <a:prstGeom prst="ellipse">
            <a:avLst/>
          </a:prstGeom>
          <a:solidFill>
            <a:srgbClr val="A85C4D"/>
          </a:solidFill>
          <a:ln w="12700">
            <a:solidFill>
              <a:srgbClr val="A85C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434340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554B"/>
                </a:solidFill>
              </a:rPr>
              <a:t>Weak message remains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87552" y="4709160"/>
            <a:ext cx="82296" cy="82296"/>
          </a:xfrm>
          <a:prstGeom prst="ellipse">
            <a:avLst/>
          </a:prstGeom>
          <a:solidFill>
            <a:srgbClr val="A85C4D"/>
          </a:solidFill>
          <a:ln w="12700">
            <a:solidFill>
              <a:srgbClr val="A85C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4654296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554B"/>
                </a:solidFill>
              </a:rPr>
              <a:t>Visitors still do not act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35424" y="1993392"/>
            <a:ext cx="3127248" cy="3328416"/>
          </a:xfrm>
          <a:prstGeom prst="roundRect">
            <a:avLst>
              <a:gd name="adj" fmla="val 2924"/>
            </a:avLst>
          </a:prstGeom>
          <a:solidFill>
            <a:srgbClr val="211D18"/>
          </a:solidFill>
          <a:ln w="10160">
            <a:solidFill>
              <a:srgbClr val="40362C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9744" y="23317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E2B574"/>
                </a:solidFill>
              </a:rPr>
              <a:t>RIGHT FIT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09744" y="269748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strongest recommendation is the minimum scope that solves the actual issue.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809744" y="4178808"/>
            <a:ext cx="82296" cy="82296"/>
          </a:xfrm>
          <a:prstGeom prst="ellipse">
            <a:avLst/>
          </a:prstGeom>
          <a:solidFill>
            <a:srgbClr val="E2B574"/>
          </a:solidFill>
          <a:ln w="12700">
            <a:solidFill>
              <a:srgbClr val="E2B5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412394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FE5D7"/>
                </a:solidFill>
              </a:rPr>
              <a:t>Fixes root causes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9744" y="4489704"/>
            <a:ext cx="82296" cy="82296"/>
          </a:xfrm>
          <a:prstGeom prst="ellipse">
            <a:avLst/>
          </a:prstGeom>
          <a:solidFill>
            <a:srgbClr val="E2B574"/>
          </a:solidFill>
          <a:ln w="12700">
            <a:solidFill>
              <a:srgbClr val="E2B5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74336" y="443484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FE5D7"/>
                </a:solidFill>
              </a:rPr>
              <a:t>Scope matches problem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9744" y="4800600"/>
            <a:ext cx="82296" cy="82296"/>
          </a:xfrm>
          <a:prstGeom prst="ellipse">
            <a:avLst/>
          </a:prstGeom>
          <a:solidFill>
            <a:srgbClr val="E2B574"/>
          </a:solidFill>
          <a:ln w="12700">
            <a:solidFill>
              <a:srgbClr val="E2B5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474573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FE5D7"/>
                </a:solidFill>
              </a:rPr>
              <a:t>Best value-to-complexity ratio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30768" y="1993392"/>
            <a:ext cx="3108960" cy="332841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7C8B2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705088" y="2331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A85C4D"/>
                </a:solidFill>
              </a:rPr>
              <a:t>OVERBUILDING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705088" y="26974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00E"/>
                </a:solidFill>
              </a:rPr>
              <a:t>A larger build can be valuable later, but extra scope is waste if the business does not need it yet.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705088" y="4087368"/>
            <a:ext cx="82296" cy="82296"/>
          </a:xfrm>
          <a:prstGeom prst="ellipse">
            <a:avLst/>
          </a:prstGeom>
          <a:solidFill>
            <a:srgbClr val="A85C4D"/>
          </a:solidFill>
          <a:ln w="12700">
            <a:solidFill>
              <a:srgbClr val="A85C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0" y="403250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554B"/>
                </a:solidFill>
              </a:rPr>
              <a:t>Unneeded systems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705088" y="4398264"/>
            <a:ext cx="82296" cy="82296"/>
          </a:xfrm>
          <a:prstGeom prst="ellipse">
            <a:avLst/>
          </a:prstGeom>
          <a:solidFill>
            <a:srgbClr val="A85C4D"/>
          </a:solidFill>
          <a:ln w="12700">
            <a:solidFill>
              <a:srgbClr val="A85C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0" y="4343400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554B"/>
                </a:solidFill>
              </a:rPr>
              <a:t>Slower launch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705088" y="4709160"/>
            <a:ext cx="82296" cy="82296"/>
          </a:xfrm>
          <a:prstGeom prst="ellipse">
            <a:avLst/>
          </a:prstGeom>
          <a:solidFill>
            <a:srgbClr val="A85C4D"/>
          </a:solidFill>
          <a:ln w="12700">
            <a:solidFill>
              <a:srgbClr val="A85C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4654296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554B"/>
                </a:solidFill>
              </a:rPr>
              <a:t>More cost without proportional upside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6C5B"/>
                </a:solidFill>
              </a:rPr>
              <a:t>Website Growth Audit • Client Walkthrough Template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8A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91440"/>
            <a:ext cx="1234440" cy="123444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138928"/>
            <a:ext cx="1325880" cy="132588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219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21792"/>
            <a:ext cx="11201400" cy="0"/>
          </a:xfrm>
          <a:prstGeom prst="line">
            <a:avLst/>
          </a:prstGeom>
          <a:noFill/>
          <a:ln w="7620">
            <a:solidFill>
              <a:srgbClr val="D7C8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96112"/>
            <a:ext cx="7223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Website scorecard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554B"/>
                </a:solidFill>
              </a:rPr>
              <a:t>Replace these sample scores with the client-specific audit findings.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792224"/>
            <a:ext cx="553212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0160">
            <a:solidFill>
              <a:srgbClr val="D7C8B2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9385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1100E"/>
                </a:solidFill>
              </a:rPr>
              <a:t>Messaging clarity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761488" y="1975104"/>
            <a:ext cx="2377440" cy="137160"/>
          </a:xfrm>
          <a:prstGeom prst="roundRect">
            <a:avLst>
              <a:gd name="adj" fmla="val 26667"/>
            </a:avLst>
          </a:prstGeom>
          <a:solidFill>
            <a:srgbClr val="EFE8DC"/>
          </a:solidFill>
          <a:ln w="12700">
            <a:solidFill>
              <a:srgbClr val="EFE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88" y="1975104"/>
            <a:ext cx="1378915" cy="137160"/>
          </a:xfrm>
          <a:prstGeom prst="roundRect">
            <a:avLst>
              <a:gd name="adj" fmla="val 26667"/>
            </a:avLst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21808" y="19110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1100E"/>
                </a:solidFill>
              </a:rPr>
              <a:t>58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822960" y="24140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1100E"/>
                </a:solidFill>
              </a:rPr>
              <a:t>Mobile experience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2761488" y="2450592"/>
            <a:ext cx="2377440" cy="137160"/>
          </a:xfrm>
          <a:prstGeom prst="roundRect">
            <a:avLst>
              <a:gd name="adj" fmla="val 26667"/>
            </a:avLst>
          </a:prstGeom>
          <a:solidFill>
            <a:srgbClr val="EFE8DC"/>
          </a:solidFill>
          <a:ln w="12700">
            <a:solidFill>
              <a:srgbClr val="EFE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61488" y="2450592"/>
            <a:ext cx="1711757" cy="137160"/>
          </a:xfrm>
          <a:prstGeom prst="roundRect">
            <a:avLst>
              <a:gd name="adj" fmla="val 26667"/>
            </a:avLst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21808" y="23865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1100E"/>
                </a:solidFill>
              </a:rPr>
              <a:t>72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822960" y="28895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1100E"/>
                </a:solidFill>
              </a:rPr>
              <a:t>Visual credibility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2761488" y="2926080"/>
            <a:ext cx="2377440" cy="137160"/>
          </a:xfrm>
          <a:prstGeom prst="roundRect">
            <a:avLst>
              <a:gd name="adj" fmla="val 26667"/>
            </a:avLst>
          </a:prstGeom>
          <a:solidFill>
            <a:srgbClr val="EFE8DC"/>
          </a:solidFill>
          <a:ln w="12700">
            <a:solidFill>
              <a:srgbClr val="EFE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61488" y="2926080"/>
            <a:ext cx="1521562" cy="137160"/>
          </a:xfrm>
          <a:prstGeom prst="roundRect">
            <a:avLst>
              <a:gd name="adj" fmla="val 26667"/>
            </a:avLst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28620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1100E"/>
                </a:solidFill>
              </a:rPr>
              <a:t>64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22960" y="33649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1100E"/>
                </a:solidFill>
              </a:rPr>
              <a:t>Calls to action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2761488" y="3401568"/>
            <a:ext cx="2377440" cy="137160"/>
          </a:xfrm>
          <a:prstGeom prst="roundRect">
            <a:avLst>
              <a:gd name="adj" fmla="val 26667"/>
            </a:avLst>
          </a:prstGeom>
          <a:solidFill>
            <a:srgbClr val="EFE8DC"/>
          </a:solidFill>
          <a:ln w="12700">
            <a:solidFill>
              <a:srgbClr val="EFE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61488" y="3401568"/>
            <a:ext cx="998525" cy="137160"/>
          </a:xfrm>
          <a:prstGeom prst="roundRect">
            <a:avLst>
              <a:gd name="adj" fmla="val 26667"/>
            </a:avLst>
          </a:prstGeom>
          <a:solidFill>
            <a:srgbClr val="A85C4D"/>
          </a:solidFill>
          <a:ln w="12700">
            <a:solidFill>
              <a:srgbClr val="A85C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3337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1100E"/>
                </a:solidFill>
              </a:rPr>
              <a:t>42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822960" y="38404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1100E"/>
                </a:solidFill>
              </a:rPr>
              <a:t>Conversion path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2761488" y="3877056"/>
            <a:ext cx="2377440" cy="137160"/>
          </a:xfrm>
          <a:prstGeom prst="roundRect">
            <a:avLst>
              <a:gd name="adj" fmla="val 26667"/>
            </a:avLst>
          </a:prstGeom>
          <a:solidFill>
            <a:srgbClr val="EFE8DC"/>
          </a:solidFill>
          <a:ln w="12700">
            <a:solidFill>
              <a:srgbClr val="EFE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61488" y="3877056"/>
            <a:ext cx="1093622" cy="137160"/>
          </a:xfrm>
          <a:prstGeom prst="roundRect">
            <a:avLst>
              <a:gd name="adj" fmla="val 26667"/>
            </a:avLst>
          </a:prstGeom>
          <a:solidFill>
            <a:srgbClr val="A85C4D"/>
          </a:solidFill>
          <a:ln w="12700">
            <a:solidFill>
              <a:srgbClr val="A85C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1808" y="38130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1100E"/>
                </a:solidFill>
              </a:rPr>
              <a:t>46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822960" y="431596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1100E"/>
                </a:solidFill>
              </a:rPr>
              <a:t>Trust signals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2761488" y="4352544"/>
            <a:ext cx="2377440" cy="137160"/>
          </a:xfrm>
          <a:prstGeom prst="roundRect">
            <a:avLst>
              <a:gd name="adj" fmla="val 26667"/>
            </a:avLst>
          </a:prstGeom>
          <a:solidFill>
            <a:srgbClr val="EFE8DC"/>
          </a:solidFill>
          <a:ln w="12700">
            <a:solidFill>
              <a:srgbClr val="EFE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61488" y="4352544"/>
            <a:ext cx="1212494" cy="137160"/>
          </a:xfrm>
          <a:prstGeom prst="roundRect">
            <a:avLst>
              <a:gd name="adj" fmla="val 26667"/>
            </a:avLst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21808" y="42885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1100E"/>
                </a:solidFill>
              </a:rPr>
              <a:t>51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822960" y="47914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1100E"/>
                </a:solidFill>
              </a:rPr>
              <a:t>Basic SEO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2761488" y="4828032"/>
            <a:ext cx="2377440" cy="137160"/>
          </a:xfrm>
          <a:prstGeom prst="roundRect">
            <a:avLst>
              <a:gd name="adj" fmla="val 26667"/>
            </a:avLst>
          </a:prstGeom>
          <a:solidFill>
            <a:srgbClr val="EFE8DC"/>
          </a:solidFill>
          <a:ln w="12700">
            <a:solidFill>
              <a:srgbClr val="EFE8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61488" y="4828032"/>
            <a:ext cx="1497787" cy="137160"/>
          </a:xfrm>
          <a:prstGeom prst="roundRect">
            <a:avLst>
              <a:gd name="adj" fmla="val 26667"/>
            </a:avLst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21808" y="47640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1100E"/>
                </a:solidFill>
              </a:rPr>
              <a:t>63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822960" y="52669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11100E"/>
                </a:solidFill>
              </a:rPr>
              <a:t>Speed/accessibility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2761488" y="5303520"/>
            <a:ext cx="2377440" cy="137160"/>
          </a:xfrm>
          <a:prstGeom prst="roundRect">
            <a:avLst>
              <a:gd name="adj" fmla="val 26667"/>
            </a:avLst>
          </a:prstGeom>
          <a:solidFill>
            <a:srgbClr val="EFE8DC"/>
          </a:solidFill>
          <a:ln w="12700">
            <a:solidFill>
              <a:srgbClr val="EFE8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61488" y="5303520"/>
            <a:ext cx="1616659" cy="137160"/>
          </a:xfrm>
          <a:prstGeom prst="roundRect">
            <a:avLst>
              <a:gd name="adj" fmla="val 26667"/>
            </a:avLst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21808" y="52395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1100E"/>
                </a:solidFill>
              </a:rPr>
              <a:t>68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6601968" y="1792224"/>
            <a:ext cx="4919472" cy="4343400"/>
          </a:xfrm>
          <a:prstGeom prst="roundRect">
            <a:avLst>
              <a:gd name="adj" fmla="val 2105"/>
            </a:avLst>
          </a:prstGeom>
          <a:solidFill>
            <a:srgbClr val="1D1915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949440" y="22128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E2B574"/>
                </a:solidFill>
              </a:rPr>
              <a:t>INTERPRETATION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949440" y="257860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website is not broken. It is under-converting.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967728" y="343814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DED1"/>
                </a:solidFill>
              </a:rPr>
              <a:t>The biggest constraint is not visual polish alone. The site needs clearer value, stronger proof, and a cleaner path from visitor attention to inquiry.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967728" y="4434840"/>
            <a:ext cx="3886200" cy="0"/>
          </a:xfrm>
          <a:prstGeom prst="line">
            <a:avLst/>
          </a:prstGeom>
          <a:noFill/>
          <a:ln w="10160">
            <a:solidFill>
              <a:srgbClr val="5144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67728" y="4773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B574"/>
                </a:solidFill>
              </a:rPr>
              <a:t>Recommended decision lens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67728" y="5193792"/>
            <a:ext cx="82296" cy="82296"/>
          </a:xfrm>
          <a:prstGeom prst="ellipse">
            <a:avLst/>
          </a:prstGeom>
          <a:solidFill>
            <a:srgbClr val="E2B574"/>
          </a:solidFill>
          <a:ln w="12700">
            <a:solidFill>
              <a:srgbClr val="E2B57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0" y="5138928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FE5D7"/>
                </a:solidFill>
              </a:rPr>
              <a:t>Which fix improves trust fastest?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6967728" y="5504688"/>
            <a:ext cx="82296" cy="82296"/>
          </a:xfrm>
          <a:prstGeom prst="ellipse">
            <a:avLst/>
          </a:prstGeom>
          <a:solidFill>
            <a:srgbClr val="E2B574"/>
          </a:solidFill>
          <a:ln w="12700">
            <a:solidFill>
              <a:srgbClr val="E2B57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5449824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FE5D7"/>
                </a:solidFill>
              </a:rPr>
              <a:t>Which fix removes conversion friction?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6967728" y="5815584"/>
            <a:ext cx="82296" cy="82296"/>
          </a:xfrm>
          <a:prstGeom prst="ellipse">
            <a:avLst/>
          </a:prstGeom>
          <a:solidFill>
            <a:srgbClr val="E2B574"/>
          </a:solidFill>
          <a:ln w="12700">
            <a:solidFill>
              <a:srgbClr val="E2B57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5760720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FE5D7"/>
                </a:solidFill>
              </a:rPr>
              <a:t>Which scope avoids both under-solving and overbuilding?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6C5B"/>
                </a:solidFill>
              </a:rPr>
              <a:t>Website Growth Audit • Client Walkthrough Template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8A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 w="12700">
            <a:solidFill>
              <a:srgbClr val="1110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09728"/>
            <a:ext cx="1874520" cy="1874520"/>
          </a:xfrm>
          <a:prstGeom prst="arc">
            <a:avLst/>
          </a:prstGeom>
          <a:solidFill>
            <a:srgbClr val="11100E">
              <a:alpha val="0"/>
            </a:srgbClr>
          </a:solidFill>
          <a:ln w="12700">
            <a:solidFill>
              <a:srgbClr val="C9965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5321808"/>
            <a:ext cx="1234440" cy="1234440"/>
          </a:xfrm>
          <a:prstGeom prst="arc">
            <a:avLst/>
          </a:prstGeom>
          <a:solidFill>
            <a:srgbClr val="11100E">
              <a:alpha val="0"/>
            </a:srgbClr>
          </a:solidFill>
          <a:ln w="12700">
            <a:solidFill>
              <a:srgbClr val="C9965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219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B5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21792"/>
            <a:ext cx="11201400" cy="0"/>
          </a:xfrm>
          <a:prstGeom prst="line">
            <a:avLst/>
          </a:prstGeom>
          <a:noFill/>
          <a:ln w="7620">
            <a:solidFill>
              <a:srgbClr val="3A34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96112"/>
            <a:ext cx="7223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issues to fix first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D1C5"/>
                </a:solidFill>
              </a:rPr>
              <a:t>The highest-impact problems blocking more inquiries and customer trust.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85623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2B574"/>
                </a:solidFill>
              </a:rPr>
              <a:t>01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600200" y="18745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first screen does not make the offer obvious fast enough.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295144"/>
            <a:ext cx="800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CFC3"/>
                </a:solidFill>
              </a:rPr>
              <a:t>Impact: visitors leave before they understand why they should care.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00200" y="2724912"/>
            <a:ext cx="9052560" cy="0"/>
          </a:xfrm>
          <a:prstGeom prst="line">
            <a:avLst/>
          </a:prstGeom>
          <a:noFill/>
          <a:ln w="10160">
            <a:solidFill>
              <a:srgbClr val="4138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8211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2B574"/>
                </a:solidFill>
              </a:rPr>
              <a:t>02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600200" y="3200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call-to-action path is too weak or scattered.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621024"/>
            <a:ext cx="800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CFC3"/>
                </a:solidFill>
              </a:rPr>
              <a:t>Impact: interested visitors do not get a clear next step.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600200" y="4050792"/>
            <a:ext cx="9052560" cy="0"/>
          </a:xfrm>
          <a:prstGeom prst="line">
            <a:avLst/>
          </a:prstGeom>
          <a:noFill/>
          <a:ln w="10160">
            <a:solidFill>
              <a:srgbClr val="4138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0799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2B574"/>
                </a:solidFill>
              </a:rPr>
              <a:t>03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600200" y="4526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site lacks enough credibility signals before asking for action.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946904"/>
            <a:ext cx="800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CFC3"/>
                </a:solidFill>
              </a:rPr>
              <a:t>Impact: prospects hesitate because trust is not established early.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00200" y="5376672"/>
            <a:ext cx="9052560" cy="0"/>
          </a:xfrm>
          <a:prstGeom prst="line">
            <a:avLst/>
          </a:prstGeom>
          <a:noFill/>
          <a:ln w="10160">
            <a:solidFill>
              <a:srgbClr val="4138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70848" y="5440680"/>
            <a:ext cx="2286000" cy="475488"/>
          </a:xfrm>
          <a:prstGeom prst="roundRect">
            <a:avLst>
              <a:gd name="adj" fmla="val 13462"/>
            </a:avLst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90888" y="5605272"/>
            <a:ext cx="1627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100E"/>
                </a:solidFill>
              </a:rPr>
              <a:t>Focus creates speed.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1A4"/>
                </a:solidFill>
              </a:rPr>
              <a:t>Website Growth Audit • Client Walkthrough Template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8A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91440"/>
            <a:ext cx="1234440" cy="123444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138928"/>
            <a:ext cx="1325880" cy="132588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219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21792"/>
            <a:ext cx="11201400" cy="0"/>
          </a:xfrm>
          <a:prstGeom prst="line">
            <a:avLst/>
          </a:prstGeom>
          <a:noFill/>
          <a:ln w="7620">
            <a:solidFill>
              <a:srgbClr val="D7C8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96112"/>
            <a:ext cx="7223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 issue 1: Messaging clarity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554B"/>
                </a:solidFill>
              </a:rPr>
              <a:t>Use this slide with a screenshot from the client site.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4944" y="1874520"/>
            <a:ext cx="5742432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0160">
            <a:solidFill>
              <a:srgbClr val="D7C8B2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98448" y="369417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6C5B"/>
                </a:solidFill>
              </a:rPr>
              <a:t>[CLIENT WEBSITE SCREENSHOT]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231136"/>
            <a:ext cx="5120640" cy="3246120"/>
          </a:xfrm>
          <a:prstGeom prst="rect">
            <a:avLst/>
          </a:prstGeom>
          <a:solidFill>
            <a:srgbClr val="F0EBE2"/>
          </a:solidFill>
          <a:ln w="12700">
            <a:solidFill>
              <a:srgbClr val="D7C8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4956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7B6C5B"/>
                </a:solidFill>
              </a:rPr>
              <a:t>Paste the relevant screenshot here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6812280" y="1874520"/>
            <a:ext cx="4663440" cy="4160520"/>
          </a:xfrm>
          <a:prstGeom prst="roundRect">
            <a:avLst>
              <a:gd name="adj" fmla="val 2198"/>
            </a:avLst>
          </a:prstGeom>
          <a:solidFill>
            <a:srgbClr val="1D1915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87184" y="2267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E2B574"/>
                </a:solidFill>
              </a:rPr>
              <a:t>DIAGNOSIS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187184" y="25786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Visitors do not understand the core offer fast enough.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187184" y="35204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B574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87184" y="382219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E1D6"/>
                </a:solidFill>
              </a:rPr>
              <a:t>Confusion creates bounce. The first screen must make value obvious before the visitor scrolls.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87184" y="46817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B574"/>
                </a:solidFill>
              </a:rPr>
              <a:t>Recommended replacement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87184" y="498348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E1D6"/>
                </a:solidFill>
              </a:rPr>
              <a:t>A direct headline, specific subheadline, proof point, and one primary call to action.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6C5B"/>
                </a:solidFill>
              </a:rPr>
              <a:t>Website Growth Audit • Client Walkthrough Template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8A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91440"/>
            <a:ext cx="1234440" cy="123444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138928"/>
            <a:ext cx="1325880" cy="132588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219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21792"/>
            <a:ext cx="11201400" cy="0"/>
          </a:xfrm>
          <a:prstGeom prst="line">
            <a:avLst/>
          </a:prstGeom>
          <a:noFill/>
          <a:ln w="7620">
            <a:solidFill>
              <a:srgbClr val="D7C8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96112"/>
            <a:ext cx="7223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 issue 2: Conversion path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554B"/>
                </a:solidFill>
              </a:rPr>
              <a:t>Use this slide with a screenshot from the client site.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4944" y="1874520"/>
            <a:ext cx="5742432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0160">
            <a:solidFill>
              <a:srgbClr val="D7C8B2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98448" y="369417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6C5B"/>
                </a:solidFill>
              </a:rPr>
              <a:t>[CLIENT WEBSITE SCREENSHOT]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231136"/>
            <a:ext cx="5120640" cy="3246120"/>
          </a:xfrm>
          <a:prstGeom prst="rect">
            <a:avLst/>
          </a:prstGeom>
          <a:solidFill>
            <a:srgbClr val="F0EBE2"/>
          </a:solidFill>
          <a:ln w="12700">
            <a:solidFill>
              <a:srgbClr val="D7C8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4956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7B6C5B"/>
                </a:solidFill>
              </a:rPr>
              <a:t>Paste the relevant screenshot here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6812280" y="1874520"/>
            <a:ext cx="4663440" cy="4160520"/>
          </a:xfrm>
          <a:prstGeom prst="roundRect">
            <a:avLst>
              <a:gd name="adj" fmla="val 2198"/>
            </a:avLst>
          </a:prstGeom>
          <a:solidFill>
            <a:srgbClr val="1D1915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87184" y="2267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E2B574"/>
                </a:solidFill>
              </a:rPr>
              <a:t>DIAGNOSIS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187184" y="25786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The visitor does not have one obvious next step.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187184" y="35204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B574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87184" y="382219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E1D6"/>
                </a:solidFill>
              </a:rPr>
              <a:t>Too many choices or weak CTAs reduce action. The site should guide interested visitors toward inquiry.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87184" y="46817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B574"/>
                </a:solidFill>
              </a:rPr>
              <a:t>Recommended replacement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87184" y="498348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E1D6"/>
                </a:solidFill>
              </a:rPr>
              <a:t>One repeated CTA, clearer section order, and a simpler contact/request path.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6C5B"/>
                </a:solidFill>
              </a:rPr>
              <a:t>Website Growth Audit • Client Walkthrough Template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8A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91440"/>
            <a:ext cx="1234440" cy="123444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138928"/>
            <a:ext cx="1325880" cy="132588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219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21792"/>
            <a:ext cx="11201400" cy="0"/>
          </a:xfrm>
          <a:prstGeom prst="line">
            <a:avLst/>
          </a:prstGeom>
          <a:noFill/>
          <a:ln w="7620">
            <a:solidFill>
              <a:srgbClr val="D7C8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96112"/>
            <a:ext cx="7223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 issue 3: Trust and mobile friction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554B"/>
                </a:solidFill>
              </a:rPr>
              <a:t>Use this slide with a screenshot from the client site.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4944" y="1874520"/>
            <a:ext cx="5742432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0160">
            <a:solidFill>
              <a:srgbClr val="D7C8B2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98448" y="369417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6C5B"/>
                </a:solidFill>
              </a:rPr>
              <a:t>[CLIENT WEBSITE SCREENSHOT]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231136"/>
            <a:ext cx="5120640" cy="3246120"/>
          </a:xfrm>
          <a:prstGeom prst="rect">
            <a:avLst/>
          </a:prstGeom>
          <a:solidFill>
            <a:srgbClr val="F0EBE2"/>
          </a:solidFill>
          <a:ln w="12700">
            <a:solidFill>
              <a:srgbClr val="D7C8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4956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7B6C5B"/>
                </a:solidFill>
              </a:rPr>
              <a:t>Paste the relevant screenshot here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6812280" y="1874520"/>
            <a:ext cx="4663440" cy="4160520"/>
          </a:xfrm>
          <a:prstGeom prst="roundRect">
            <a:avLst>
              <a:gd name="adj" fmla="val 2198"/>
            </a:avLst>
          </a:prstGeom>
          <a:solidFill>
            <a:srgbClr val="1D1915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87184" y="2267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E2B574"/>
                </a:solidFill>
              </a:rPr>
              <a:t>DIAGNOSIS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187184" y="25786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The site asks for action before earning enough confidence.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187184" y="35204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B574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87184" y="382219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E1D6"/>
                </a:solidFill>
              </a:rPr>
              <a:t>People need proof before they commit. Mobile friction and weak proof signals make the business feel less credible.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87184" y="46817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B574"/>
                </a:solidFill>
              </a:rPr>
              <a:t>Recommended replacement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87184" y="498348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E1D6"/>
                </a:solidFill>
              </a:rPr>
              <a:t>Move proof earlier, improve mobile sections, tighten visual consistency, and reduce friction.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6C5B"/>
                </a:solidFill>
              </a:rPr>
              <a:t>Website Growth Audit • Client Walkthrough Template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8A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91440"/>
            <a:ext cx="1234440" cy="123444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138928"/>
            <a:ext cx="1325880" cy="132588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219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21792"/>
            <a:ext cx="11201400" cy="0"/>
          </a:xfrm>
          <a:prstGeom prst="line">
            <a:avLst/>
          </a:prstGeom>
          <a:noFill/>
          <a:ln w="7620">
            <a:solidFill>
              <a:srgbClr val="D7C8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96112"/>
            <a:ext cx="7223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wins you can use either way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554B"/>
                </a:solidFill>
              </a:rPr>
              <a:t>Give the strategy away. Charge for execution, speed, and tailored implementation.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49834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0160">
            <a:solidFill>
              <a:srgbClr val="D7C8B2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221284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652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83080" y="218541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00E"/>
                </a:solidFill>
              </a:rPr>
              <a:t>Clarify the first screen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25877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554B"/>
                </a:solidFill>
              </a:rPr>
              <a:t>One headline should say who you help, what you do, and the main outcome.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99632" y="1874520"/>
            <a:ext cx="49834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0160">
            <a:solidFill>
              <a:srgbClr val="D7C8B2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221284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652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05472" y="218541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00E"/>
                </a:solidFill>
              </a:rPr>
              <a:t>Use one primary CTA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05472" y="25877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554B"/>
                </a:solidFill>
              </a:rPr>
              <a:t>Choose one action for visitors to take and repeat it consistently.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4005072"/>
            <a:ext cx="49834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0160">
            <a:solidFill>
              <a:srgbClr val="D7C8B2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434340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652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43159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00E"/>
                </a:solidFill>
              </a:rPr>
              <a:t>Add trust earlier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47183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554B"/>
                </a:solidFill>
              </a:rPr>
              <a:t>Move testimonials, proof, reviews, credentials, and client examples above the fold.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99632" y="4005072"/>
            <a:ext cx="49834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0160">
            <a:solidFill>
              <a:srgbClr val="D7C8B2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73952" y="434340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652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05472" y="43159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00E"/>
                </a:solidFill>
              </a:rPr>
              <a:t>Reduce decision friction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05472" y="47183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554B"/>
                </a:solidFill>
              </a:rPr>
              <a:t>Make the next step feel simple, low-risk, and specific.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6C5B"/>
                </a:solidFill>
              </a:rPr>
              <a:t>Website Growth Audit • Client Walkthrough Template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8A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91440"/>
            <a:ext cx="1234440" cy="123444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138928"/>
            <a:ext cx="1325880" cy="132588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219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21792"/>
            <a:ext cx="11201400" cy="0"/>
          </a:xfrm>
          <a:prstGeom prst="line">
            <a:avLst/>
          </a:prstGeom>
          <a:noFill/>
          <a:ln w="7620">
            <a:solidFill>
              <a:srgbClr val="D7C8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96112"/>
            <a:ext cx="7223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Package fit recommendation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554B"/>
                </a:solidFill>
              </a:rPr>
              <a:t>Each package has equal value when matched to the right problem. This audit determines fit.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3438144" cy="4526280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10160">
            <a:solidFill>
              <a:srgbClr val="D7C8B2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2093976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00E"/>
                </a:solidFill>
              </a:rPr>
              <a:t>$900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21671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00E"/>
                </a:solidFill>
              </a:rPr>
              <a:t>Website Refresh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32688" y="2633472"/>
            <a:ext cx="2889504" cy="0"/>
          </a:xfrm>
          <a:prstGeom prst="line">
            <a:avLst/>
          </a:prstGeom>
          <a:noFill/>
          <a:ln w="10160">
            <a:solidFill>
              <a:srgbClr val="D7C8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95351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85C4D"/>
                </a:solidFill>
              </a:rPr>
              <a:t>Not enough for this project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3538728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554B"/>
                </a:solidFill>
              </a:rPr>
              <a:t>Best for cosmetic improvements when structure and messaging already work.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950976" y="4599432"/>
            <a:ext cx="82296" cy="82296"/>
          </a:xfrm>
          <a:prstGeom prst="ellipse">
            <a:avLst/>
          </a:prstGeom>
          <a:solidFill>
            <a:srgbClr val="A85C4D"/>
          </a:solidFill>
          <a:ln w="12700">
            <a:solidFill>
              <a:srgbClr val="A85C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54456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00E"/>
                </a:solidFill>
              </a:rPr>
              <a:t>Would improve surface polish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50976" y="4910328"/>
            <a:ext cx="82296" cy="82296"/>
          </a:xfrm>
          <a:prstGeom prst="ellipse">
            <a:avLst/>
          </a:prstGeom>
          <a:solidFill>
            <a:srgbClr val="A85C4D"/>
          </a:solidFill>
          <a:ln w="12700">
            <a:solidFill>
              <a:srgbClr val="A85C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85546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00E"/>
                </a:solidFill>
              </a:rPr>
              <a:t>Would not fix core conversion gaps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50976" y="5221224"/>
            <a:ext cx="82296" cy="82296"/>
          </a:xfrm>
          <a:prstGeom prst="ellipse">
            <a:avLst/>
          </a:prstGeom>
          <a:solidFill>
            <a:srgbClr val="A85C4D"/>
          </a:solidFill>
          <a:ln w="12700">
            <a:solidFill>
              <a:srgbClr val="A85C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5166360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00E"/>
                </a:solidFill>
              </a:rPr>
              <a:t>Risks saving money while leaving the problem intact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80560" y="1783080"/>
            <a:ext cx="3438144" cy="4526280"/>
          </a:xfrm>
          <a:prstGeom prst="roundRect">
            <a:avLst>
              <a:gd name="adj" fmla="val 2660"/>
            </a:avLst>
          </a:prstGeom>
          <a:solidFill>
            <a:srgbClr val="211D18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093976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2B574"/>
                </a:solidFill>
              </a:rPr>
              <a:t>$1,500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50992" y="21671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Conversion Redesign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633472"/>
            <a:ext cx="2889504" cy="0"/>
          </a:xfrm>
          <a:prstGeom prst="line">
            <a:avLst/>
          </a:prstGeom>
          <a:noFill/>
          <a:ln w="10160">
            <a:solidFill>
              <a:srgbClr val="5043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95351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2B574"/>
                </a:solidFill>
              </a:rPr>
              <a:t>Recommended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3538728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E8DFD2"/>
                </a:solidFill>
              </a:rPr>
              <a:t>Best for a site that needs clearer messaging, stronger CTAs, and better trust flow.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4773168" y="4599432"/>
            <a:ext cx="82296" cy="82296"/>
          </a:xfrm>
          <a:prstGeom prst="ellipse">
            <a:avLst/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454456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FE5D7"/>
                </a:solidFill>
              </a:rPr>
              <a:t>Fixes the actual problems identified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73168" y="4910328"/>
            <a:ext cx="82296" cy="82296"/>
          </a:xfrm>
          <a:prstGeom prst="ellipse">
            <a:avLst/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485546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FE5D7"/>
                </a:solidFill>
              </a:rPr>
              <a:t>Avoids unnecessary advanced systems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73168" y="5221224"/>
            <a:ext cx="82296" cy="82296"/>
          </a:xfrm>
          <a:prstGeom prst="ellipse">
            <a:avLst/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5166360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FE5D7"/>
                </a:solidFill>
              </a:rPr>
              <a:t>Smallest complete solution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302752" y="1783080"/>
            <a:ext cx="3438144" cy="4526280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10160">
            <a:solidFill>
              <a:srgbClr val="D7C8B2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577072" y="2093976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00E"/>
                </a:solidFill>
              </a:rPr>
              <a:t>$3,000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473184" y="21671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00E"/>
                </a:solidFill>
              </a:rPr>
              <a:t>Complete Website System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77072" y="2633472"/>
            <a:ext cx="2889504" cy="0"/>
          </a:xfrm>
          <a:prstGeom prst="line">
            <a:avLst/>
          </a:prstGeom>
          <a:noFill/>
          <a:ln w="10160">
            <a:solidFill>
              <a:srgbClr val="D7C8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77072" y="295351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85C4D"/>
                </a:solidFill>
              </a:rPr>
              <a:t>More than required right now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77072" y="3538728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554B"/>
                </a:solidFill>
              </a:rPr>
              <a:t>Best for a full rebuild, larger content system, advanced SEO, or analytics architecture.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8595360" y="4599432"/>
            <a:ext cx="82296" cy="82296"/>
          </a:xfrm>
          <a:prstGeom prst="ellipse">
            <a:avLst/>
          </a:prstGeom>
          <a:solidFill>
            <a:srgbClr val="A85C4D"/>
          </a:solidFill>
          <a:ln w="12700">
            <a:solidFill>
              <a:srgbClr val="A85C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59952" y="454456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00E"/>
                </a:solidFill>
              </a:rPr>
              <a:t>Useful later if growth needs expand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595360" y="4910328"/>
            <a:ext cx="82296" cy="82296"/>
          </a:xfrm>
          <a:prstGeom prst="ellipse">
            <a:avLst/>
          </a:prstGeom>
          <a:solidFill>
            <a:srgbClr val="A85C4D"/>
          </a:solidFill>
          <a:ln w="12700">
            <a:solidFill>
              <a:srgbClr val="A85C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59952" y="485546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00E"/>
                </a:solidFill>
              </a:rPr>
              <a:t>Not proportional to current problem level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595360" y="5221224"/>
            <a:ext cx="82296" cy="82296"/>
          </a:xfrm>
          <a:prstGeom prst="ellipse">
            <a:avLst/>
          </a:prstGeom>
          <a:solidFill>
            <a:srgbClr val="A85C4D"/>
          </a:solidFill>
          <a:ln w="12700">
            <a:solidFill>
              <a:srgbClr val="A85C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59952" y="5166360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1100E"/>
                </a:solidFill>
              </a:rPr>
              <a:t>Would add cost and complexity before needed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43000" y="64465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6C5B"/>
                </a:solidFill>
              </a:rPr>
              <a:t>Trust rule: recommend neither less nor more than the problem requires.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8A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 w="12700">
            <a:solidFill>
              <a:srgbClr val="1110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09728"/>
            <a:ext cx="1874520" cy="1874520"/>
          </a:xfrm>
          <a:prstGeom prst="arc">
            <a:avLst/>
          </a:prstGeom>
          <a:solidFill>
            <a:srgbClr val="11100E">
              <a:alpha val="0"/>
            </a:srgbClr>
          </a:solidFill>
          <a:ln w="12700">
            <a:solidFill>
              <a:srgbClr val="C9965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5321808"/>
            <a:ext cx="1234440" cy="1234440"/>
          </a:xfrm>
          <a:prstGeom prst="arc">
            <a:avLst/>
          </a:prstGeom>
          <a:solidFill>
            <a:srgbClr val="11100E">
              <a:alpha val="0"/>
            </a:srgbClr>
          </a:solidFill>
          <a:ln w="12700">
            <a:solidFill>
              <a:srgbClr val="C9965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219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B5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21792"/>
            <a:ext cx="11201400" cy="0"/>
          </a:xfrm>
          <a:prstGeom prst="line">
            <a:avLst/>
          </a:prstGeom>
          <a:noFill/>
          <a:ln w="7620">
            <a:solidFill>
              <a:srgbClr val="3A34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96112"/>
            <a:ext cx="7223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scope and timeline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D1C5"/>
                </a:solidFill>
              </a:rPr>
              <a:t>The implementation plan after approval.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6384" y="1965960"/>
            <a:ext cx="2423160" cy="3246120"/>
          </a:xfrm>
          <a:prstGeom prst="roundRect">
            <a:avLst>
              <a:gd name="adj" fmla="val 3774"/>
            </a:avLst>
          </a:prstGeom>
          <a:solidFill>
            <a:srgbClr val="211D18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22402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B574"/>
                </a:solidFill>
              </a:rPr>
              <a:t>Day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" y="2715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Onboarding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87552" y="3264408"/>
            <a:ext cx="1828800" cy="0"/>
          </a:xfrm>
          <a:prstGeom prst="line">
            <a:avLst/>
          </a:prstGeom>
          <a:noFill/>
          <a:ln w="10160">
            <a:solidFill>
              <a:srgbClr val="5144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584448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E7DED1"/>
                </a:solidFill>
              </a:rPr>
              <a:t>Payment, access, assets, decision-maker, and project brief.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3602736" y="1965960"/>
            <a:ext cx="2423160" cy="3246120"/>
          </a:xfrm>
          <a:prstGeom prst="roundRect">
            <a:avLst>
              <a:gd name="adj" fmla="val 3774"/>
            </a:avLst>
          </a:prstGeom>
          <a:solidFill>
            <a:srgbClr val="211D18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03904" y="22402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B574"/>
                </a:solidFill>
              </a:rPr>
              <a:t>Days 2–4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03904" y="2715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Strategy + copy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03904" y="3264408"/>
            <a:ext cx="1828800" cy="0"/>
          </a:xfrm>
          <a:prstGeom prst="line">
            <a:avLst/>
          </a:prstGeom>
          <a:noFill/>
          <a:ln w="10160">
            <a:solidFill>
              <a:srgbClr val="5144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03904" y="3584448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E7DED1"/>
                </a:solidFill>
              </a:rPr>
              <a:t>Messaging hierarchy, page structure, CTA path, and proof placement.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6419088" y="1965960"/>
            <a:ext cx="2423160" cy="3246120"/>
          </a:xfrm>
          <a:prstGeom prst="roundRect">
            <a:avLst>
              <a:gd name="adj" fmla="val 3774"/>
            </a:avLst>
          </a:prstGeom>
          <a:solidFill>
            <a:srgbClr val="211D18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0256" y="22402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B574"/>
                </a:solidFill>
              </a:rPr>
              <a:t>Days 5–9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0256" y="2715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Design + build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20256" y="3264408"/>
            <a:ext cx="1828800" cy="0"/>
          </a:xfrm>
          <a:prstGeom prst="line">
            <a:avLst/>
          </a:prstGeom>
          <a:noFill/>
          <a:ln w="10160">
            <a:solidFill>
              <a:srgbClr val="5144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3584448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E7DED1"/>
                </a:solidFill>
              </a:rPr>
              <a:t>Conversion-focused redesign with mobile-first execution.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9235440" y="1965960"/>
            <a:ext cx="2423160" cy="3246120"/>
          </a:xfrm>
          <a:prstGeom prst="roundRect">
            <a:avLst>
              <a:gd name="adj" fmla="val 3774"/>
            </a:avLst>
          </a:prstGeom>
          <a:solidFill>
            <a:srgbClr val="211D18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436608" y="22402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B574"/>
                </a:solidFill>
              </a:rPr>
              <a:t>Days 10–12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36608" y="2715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QA + launch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436608" y="3264408"/>
            <a:ext cx="1828800" cy="0"/>
          </a:xfrm>
          <a:prstGeom prst="line">
            <a:avLst/>
          </a:prstGeom>
          <a:noFill/>
          <a:ln w="10160">
            <a:solidFill>
              <a:srgbClr val="5144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36608" y="3584448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E7DED1"/>
                </a:solidFill>
              </a:rPr>
              <a:t>Review, revisions, speed basics, forms, final payment, and launch.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3063240" y="5742432"/>
            <a:ext cx="6080760" cy="438912"/>
          </a:xfrm>
          <a:prstGeom prst="roundRect">
            <a:avLst>
              <a:gd name="adj" fmla="val 14583"/>
            </a:avLst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5888736"/>
            <a:ext cx="5321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00E"/>
                </a:solidFill>
              </a:rPr>
              <a:t>Final timeline depends on client response speed and asset availability.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1A4"/>
                </a:solidFill>
              </a:rPr>
              <a:t>Website Growth Audit • Client Walkthrough Template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8A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 w="12700">
            <a:solidFill>
              <a:srgbClr val="F8F5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91440"/>
            <a:ext cx="1234440" cy="123444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52760" y="5138928"/>
            <a:ext cx="1325880" cy="1325880"/>
          </a:xfrm>
          <a:prstGeom prst="arc">
            <a:avLst/>
          </a:prstGeom>
          <a:solidFill>
            <a:srgbClr val="F8F5EF">
              <a:alpha val="0"/>
            </a:srgbClr>
          </a:solidFill>
          <a:ln w="12700">
            <a:solidFill>
              <a:srgbClr val="C9965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219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21792"/>
            <a:ext cx="11201400" cy="0"/>
          </a:xfrm>
          <a:prstGeom prst="line">
            <a:avLst/>
          </a:prstGeom>
          <a:noFill/>
          <a:ln w="7620">
            <a:solidFill>
              <a:srgbClr val="D7C8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96112"/>
            <a:ext cx="7223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and next step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554B"/>
                </a:solidFill>
              </a:rPr>
              <a:t>One clear action: approve the recommended package and begin onboarding.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1783080"/>
            <a:ext cx="4892040" cy="4160520"/>
          </a:xfrm>
          <a:prstGeom prst="roundRect">
            <a:avLst>
              <a:gd name="adj" fmla="val 2198"/>
            </a:avLst>
          </a:prstGeom>
          <a:solidFill>
            <a:srgbClr val="1D1915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25296" y="221284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E2B574"/>
                </a:solidFill>
              </a:rPr>
              <a:t>RECOMMENDED DECISION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225296" y="2633472"/>
            <a:ext cx="3977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Approve the Conversion Redesign and start onboarding.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25296" y="376732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DED1"/>
                </a:solidFill>
              </a:rPr>
              <a:t>This is the smallest complete solution that fixes the problems identified in the audit without under-solving or overbuilding.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225296" y="4882896"/>
            <a:ext cx="3337560" cy="438912"/>
          </a:xfrm>
          <a:prstGeom prst="roundRect">
            <a:avLst>
              <a:gd name="adj" fmla="val 14583"/>
            </a:avLst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9344" y="5020056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00E"/>
                </a:solidFill>
              </a:rPr>
              <a:t>Approve Package + Start Intake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492240" y="1938528"/>
            <a:ext cx="384048" cy="384048"/>
          </a:xfrm>
          <a:prstGeom prst="ellipse">
            <a:avLst/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0256" y="205740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00E"/>
                </a:solidFill>
              </a:rPr>
              <a:t>1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059168" y="20116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00E"/>
                </a:solidFill>
              </a:rPr>
              <a:t>Confirm scope and payment structure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2798064"/>
            <a:ext cx="384048" cy="384048"/>
          </a:xfrm>
          <a:prstGeom prst="ellipse">
            <a:avLst/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91693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00E"/>
                </a:solidFill>
              </a:rPr>
              <a:t>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059168" y="28712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00E"/>
                </a:solidFill>
              </a:rPr>
              <a:t>Send onboarding form and asset checklist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3657600"/>
            <a:ext cx="384048" cy="384048"/>
          </a:xfrm>
          <a:prstGeom prst="ellipse">
            <a:avLst/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377647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00E"/>
                </a:solidFill>
              </a:rPr>
              <a:t>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059168" y="37307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00E"/>
                </a:solidFill>
              </a:rPr>
              <a:t>Collect access, copy, images, and approvals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4517136"/>
            <a:ext cx="384048" cy="384048"/>
          </a:xfrm>
          <a:prstGeom prst="ellipse">
            <a:avLst/>
          </a:prstGeom>
          <a:solidFill>
            <a:srgbClr val="C99652"/>
          </a:solidFill>
          <a:ln w="12700">
            <a:solidFill>
              <a:srgbClr val="C996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0256" y="463600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00E"/>
                </a:solidFill>
              </a:rPr>
              <a:t>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059168" y="45902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00E"/>
                </a:solidFill>
              </a:rPr>
              <a:t>Schedule kickoff and begin implementation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6C5B"/>
                </a:solidFill>
              </a:rPr>
              <a:t>Website Growth Audit • Client Walkthrough Template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8A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 w="12700">
            <a:solidFill>
              <a:srgbClr val="1110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09728"/>
            <a:ext cx="1874520" cy="1874520"/>
          </a:xfrm>
          <a:prstGeom prst="arc">
            <a:avLst/>
          </a:prstGeom>
          <a:solidFill>
            <a:srgbClr val="11100E">
              <a:alpha val="0"/>
            </a:srgbClr>
          </a:solidFill>
          <a:ln w="12700">
            <a:solidFill>
              <a:srgbClr val="C99652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" y="5321808"/>
            <a:ext cx="1234440" cy="1234440"/>
          </a:xfrm>
          <a:prstGeom prst="arc">
            <a:avLst/>
          </a:prstGeom>
          <a:solidFill>
            <a:srgbClr val="11100E">
              <a:alpha val="0"/>
            </a:srgbClr>
          </a:solidFill>
          <a:ln w="12700">
            <a:solidFill>
              <a:srgbClr val="C9965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219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B5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621792"/>
            <a:ext cx="11201400" cy="0"/>
          </a:xfrm>
          <a:prstGeom prst="line">
            <a:avLst/>
          </a:prstGeom>
          <a:noFill/>
          <a:ln w="7620">
            <a:solidFill>
              <a:srgbClr val="3A34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96112"/>
            <a:ext cx="7223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Side note: every audit creates content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D1C5"/>
                </a:solidFill>
              </a:rPr>
              <a:t>Each recurring problem becomes a short educational video and email topic.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1783080"/>
            <a:ext cx="4800600" cy="978408"/>
          </a:xfrm>
          <a:prstGeom prst="roundRect">
            <a:avLst>
              <a:gd name="adj" fmla="val 9346"/>
            </a:avLst>
          </a:prstGeom>
          <a:solidFill>
            <a:srgbClr val="211D18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96596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B574"/>
                </a:solidFill>
              </a:rPr>
              <a:t>Video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39112" y="1956816"/>
            <a:ext cx="33467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your homepage headline loses visitors in five seconds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4800600" cy="978408"/>
          </a:xfrm>
          <a:prstGeom prst="roundRect">
            <a:avLst>
              <a:gd name="adj" fmla="val 9346"/>
            </a:avLst>
          </a:prstGeom>
          <a:solidFill>
            <a:srgbClr val="211D18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96596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B574"/>
                </a:solidFill>
              </a:rPr>
              <a:t>Video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42632" y="1956816"/>
            <a:ext cx="33467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hidden reason people click your site but never contact you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3154680"/>
            <a:ext cx="4800600" cy="978408"/>
          </a:xfrm>
          <a:prstGeom prst="roundRect">
            <a:avLst>
              <a:gd name="adj" fmla="val 9346"/>
            </a:avLst>
          </a:prstGeom>
          <a:solidFill>
            <a:srgbClr val="211D18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97280" y="333756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B574"/>
                </a:solidFill>
              </a:rPr>
              <a:t>Video 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39112" y="3328416"/>
            <a:ext cx="33467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Three trust signals every local business website needs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154680"/>
            <a:ext cx="4800600" cy="978408"/>
          </a:xfrm>
          <a:prstGeom prst="roundRect">
            <a:avLst>
              <a:gd name="adj" fmla="val 9346"/>
            </a:avLst>
          </a:prstGeom>
          <a:solidFill>
            <a:srgbClr val="211D18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333756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B574"/>
                </a:solidFill>
              </a:rPr>
              <a:t>Video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42632" y="3328416"/>
            <a:ext cx="33467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to make one call-to-action do the work of five buttons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4526280"/>
            <a:ext cx="4800600" cy="978408"/>
          </a:xfrm>
          <a:prstGeom prst="roundRect">
            <a:avLst>
              <a:gd name="adj" fmla="val 9346"/>
            </a:avLst>
          </a:prstGeom>
          <a:solidFill>
            <a:srgbClr val="211D18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470916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B574"/>
                </a:solidFill>
              </a:rPr>
              <a:t>Video 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39112" y="4700016"/>
            <a:ext cx="33467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a “pretty” website can still fail to generate leads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526280"/>
            <a:ext cx="4800600" cy="978408"/>
          </a:xfrm>
          <a:prstGeom prst="roundRect">
            <a:avLst>
              <a:gd name="adj" fmla="val 9346"/>
            </a:avLst>
          </a:prstGeom>
          <a:solidFill>
            <a:srgbClr val="211D18"/>
          </a:solidFill>
          <a:ln w="10160">
            <a:solidFill>
              <a:srgbClr val="3B332B">
                <a:alpha val="88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470916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B574"/>
                </a:solidFill>
              </a:rPr>
              <a:t>Video 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342632" y="4700016"/>
            <a:ext cx="33467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simplest website audit you can run in ten minutes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93392" y="60533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B574"/>
                </a:solidFill>
              </a:rPr>
              <a:t>Free content builds authority. The paid offer is personalized implementation.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B1A4"/>
                </a:solidFill>
              </a:rPr>
              <a:t>Website Growth Audit • Client Walkthrough Template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B98A4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Axis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Axis Website Growth Audit Presentation Template</dc:title>
  <dc:subject>Website Growth Audit client presentation template</dc:subject>
  <dc:creator>Axis</dc:creator>
  <cp:lastModifiedBy>Axis</cp:lastModifiedBy>
  <cp:revision>1</cp:revision>
  <dcterms:created xsi:type="dcterms:W3CDTF">2026-07-20T04:52:13Z</dcterms:created>
  <dcterms:modified xsi:type="dcterms:W3CDTF">2026-07-20T04:52:13Z</dcterms:modified>
</cp:coreProperties>
</file>